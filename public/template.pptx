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93" r:id="rId4"/>
    <p:sldMasterId id="2147483786" r:id="rId5"/>
  </p:sldMasterIdLst>
  <p:notesMasterIdLst>
    <p:notesMasterId r:id="rId7"/>
  </p:notesMasterIdLst>
  <p:handoutMasterIdLst>
    <p:handoutMasterId r:id="rId8"/>
  </p:handoutMasterIdLst>
  <p:sldIdLst>
    <p:sldId id="1152" r:id="rId6"/>
  </p:sldIdLst>
  <p:sldSz cx="9906000" cy="6858000" type="A4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4120">
          <p15:clr>
            <a:srgbClr val="A4A3A4"/>
          </p15:clr>
        </p15:guide>
        <p15:guide id="8" orient="horz" pos="726" userDrawn="1">
          <p15:clr>
            <a:srgbClr val="A4A3A4"/>
          </p15:clr>
        </p15:guide>
        <p15:guide id="11" pos="156" userDrawn="1">
          <p15:clr>
            <a:srgbClr val="A4A3A4"/>
          </p15:clr>
        </p15:guide>
        <p15:guide id="15" pos="3120">
          <p15:clr>
            <a:srgbClr val="A4A3A4"/>
          </p15:clr>
        </p15:guide>
        <p15:guide id="16" pos="6036" userDrawn="1">
          <p15:clr>
            <a:srgbClr val="A4A3A4"/>
          </p15:clr>
        </p15:guide>
        <p15:guide id="18" orient="horz" pos="3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 userDrawn="1">
          <p15:clr>
            <a:srgbClr val="A4A3A4"/>
          </p15:clr>
        </p15:guide>
        <p15:guide id="2" pos="212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임수민(Soomin Lim)" initials="임L" lastIdx="39" clrIdx="0"/>
  <p:cmAuthor id="2" name="신태룡(Taeryong Shin)" initials="신S" lastIdx="23" clrIdx="1"/>
  <p:cmAuthor id="3" name="Lee, Jonghun (IB/KR)" initials="LJH" lastIdx="1" clrIdx="2"/>
  <p:cmAuthor id="4" name="이상우" initials="이" lastIdx="0" clrIdx="3">
    <p:extLst>
      <p:ext uri="{19B8F6BF-5375-455C-9EA6-DF929625EA0E}">
        <p15:presenceInfo xmlns:p15="http://schemas.microsoft.com/office/powerpoint/2012/main" userId="S-1-5-21-3435059289-2340474500-2445519896-58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0000FF"/>
    <a:srgbClr val="0070C0"/>
    <a:srgbClr val="F0831E"/>
    <a:srgbClr val="FFFFCC"/>
    <a:srgbClr val="FFF2CC"/>
    <a:srgbClr val="ED7100"/>
    <a:srgbClr val="009900"/>
    <a:srgbClr val="E1C1D3"/>
    <a:srgbClr val="F9C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14" autoAdjust="0"/>
    <p:restoredTop sz="94898" autoAdjust="0"/>
  </p:normalViewPr>
  <p:slideViewPr>
    <p:cSldViewPr snapToObjects="1" showGuides="1">
      <p:cViewPr varScale="1">
        <p:scale>
          <a:sx n="80" d="100"/>
          <a:sy n="80" d="100"/>
        </p:scale>
        <p:origin x="1666" y="53"/>
      </p:cViewPr>
      <p:guideLst>
        <p:guide orient="horz" pos="4120"/>
        <p:guide orient="horz" pos="726"/>
        <p:guide pos="156"/>
        <p:guide pos="3120"/>
        <p:guide pos="6036"/>
        <p:guide orient="horz" pos="3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96" d="100"/>
          <a:sy n="96" d="100"/>
        </p:scale>
        <p:origin x="-3708" y="-120"/>
      </p:cViewPr>
      <p:guideLst>
        <p:guide orient="horz" pos="3107"/>
        <p:guide pos="2121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302" cy="493237"/>
          </a:xfrm>
          <a:prstGeom prst="rect">
            <a:avLst/>
          </a:prstGeom>
        </p:spPr>
        <p:txBody>
          <a:bodyPr vert="horz" lIns="90654" tIns="45327" rIns="90654" bIns="45327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890" y="0"/>
            <a:ext cx="2919302" cy="493237"/>
          </a:xfrm>
          <a:prstGeom prst="rect">
            <a:avLst/>
          </a:prstGeom>
        </p:spPr>
        <p:txBody>
          <a:bodyPr vert="horz" lIns="90654" tIns="45327" rIns="90654" bIns="45327" rtlCol="0"/>
          <a:lstStyle>
            <a:lvl1pPr algn="r">
              <a:defRPr sz="1200"/>
            </a:lvl1pPr>
          </a:lstStyle>
          <a:p>
            <a:fld id="{B146883D-BE7B-452F-BEC8-C5EE9A8BA97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501"/>
            <a:ext cx="2919302" cy="493236"/>
          </a:xfrm>
          <a:prstGeom prst="rect">
            <a:avLst/>
          </a:prstGeom>
        </p:spPr>
        <p:txBody>
          <a:bodyPr vert="horz" lIns="90654" tIns="45327" rIns="90654" bIns="45327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890" y="9371501"/>
            <a:ext cx="2919302" cy="493236"/>
          </a:xfrm>
          <a:prstGeom prst="rect">
            <a:avLst/>
          </a:prstGeom>
        </p:spPr>
        <p:txBody>
          <a:bodyPr vert="horz" lIns="90654" tIns="45327" rIns="90654" bIns="45327" rtlCol="0" anchor="b"/>
          <a:lstStyle>
            <a:lvl1pPr algn="r">
              <a:defRPr sz="1200"/>
            </a:lvl1pPr>
          </a:lstStyle>
          <a:p>
            <a:fld id="{B9786AC4-836D-4AE6-A4CC-39CEE15F51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82600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565" cy="493869"/>
          </a:xfrm>
          <a:prstGeom prst="rect">
            <a:avLst/>
          </a:prstGeom>
        </p:spPr>
        <p:txBody>
          <a:bodyPr vert="horz" lIns="90763" tIns="45381" rIns="90763" bIns="4538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626" y="0"/>
            <a:ext cx="2919565" cy="493869"/>
          </a:xfrm>
          <a:prstGeom prst="rect">
            <a:avLst/>
          </a:prstGeom>
        </p:spPr>
        <p:txBody>
          <a:bodyPr vert="horz" lIns="90763" tIns="45381" rIns="90763" bIns="45381" rtlCol="0"/>
          <a:lstStyle>
            <a:lvl1pPr algn="r">
              <a:defRPr sz="1200"/>
            </a:lvl1pPr>
          </a:lstStyle>
          <a:p>
            <a:fld id="{F09C083C-5DDC-4147-8E71-AF86F981F67A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6913" y="741363"/>
            <a:ext cx="5341937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1" rIns="90763" bIns="4538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262" y="4686223"/>
            <a:ext cx="5389239" cy="4440077"/>
          </a:xfrm>
          <a:prstGeom prst="rect">
            <a:avLst/>
          </a:prstGeom>
        </p:spPr>
        <p:txBody>
          <a:bodyPr vert="horz" lIns="90763" tIns="45381" rIns="90763" bIns="4538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0868"/>
            <a:ext cx="2919565" cy="493868"/>
          </a:xfrm>
          <a:prstGeom prst="rect">
            <a:avLst/>
          </a:prstGeom>
        </p:spPr>
        <p:txBody>
          <a:bodyPr vert="horz" lIns="90763" tIns="45381" rIns="90763" bIns="4538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626" y="9370868"/>
            <a:ext cx="2919565" cy="493868"/>
          </a:xfrm>
          <a:prstGeom prst="rect">
            <a:avLst/>
          </a:prstGeom>
        </p:spPr>
        <p:txBody>
          <a:bodyPr vert="horz" lIns="90763" tIns="45381" rIns="90763" bIns="45381" rtlCol="0" anchor="b"/>
          <a:lstStyle>
            <a:lvl1pPr algn="r">
              <a:defRPr sz="1200"/>
            </a:lvl1pPr>
          </a:lstStyle>
          <a:p>
            <a:fld id="{566CB1A6-5602-452D-91FB-22F52BFDF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684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038225"/>
          </a:xfrm>
          <a:prstGeom prst="rect">
            <a:avLst/>
          </a:prstGeom>
        </p:spPr>
      </p:pic>
      <p:sp>
        <p:nvSpPr>
          <p:cNvPr id="11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  <p:extLst>
      <p:ext uri="{BB962C8B-B14F-4D97-AF65-F5344CB8AC3E}">
        <p14:creationId xmlns:p14="http://schemas.microsoft.com/office/powerpoint/2010/main" val="381533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3049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F92669-E9AC-495A-9485-4D654D0294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605064"/>
            <a:ext cx="9360000" cy="46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0" indent="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150000"/>
              <a:buFontTx/>
              <a:buNone/>
              <a:tabLst/>
              <a:defRPr lang="en-US" sz="12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7188" indent="-17780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36575" indent="-179388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90112"/>
            <a:ext cx="9360000" cy="44686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28045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5017824" y="1228045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266400" y="1228045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17824" y="1228045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3000" y="1991288"/>
            <a:ext cx="4608000" cy="425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2000" y="1991288"/>
            <a:ext cx="4608160" cy="425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714663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5017824" y="1714663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266400" y="1714663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17824" y="1714663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8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17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  <p:extLst>
      <p:ext uri="{BB962C8B-B14F-4D97-AF65-F5344CB8AC3E}">
        <p14:creationId xmlns:p14="http://schemas.microsoft.com/office/powerpoint/2010/main" val="39016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3000" y="1991289"/>
            <a:ext cx="4608000" cy="1893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2000" y="1991289"/>
            <a:ext cx="4608160" cy="1893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714663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5017824" y="1714663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266400" y="1714663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17824" y="1714663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8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73000" y="1090112"/>
            <a:ext cx="9360000" cy="44686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7" hasCustomPrompt="1"/>
          </p:nvPr>
        </p:nvSpPr>
        <p:spPr>
          <a:xfrm>
            <a:off x="273000" y="4169072"/>
            <a:ext cx="9360000" cy="2056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271272" y="3950269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30" hasCustomPrompt="1"/>
          </p:nvPr>
        </p:nvSpPr>
        <p:spPr>
          <a:xfrm>
            <a:off x="271272" y="3950269"/>
            <a:ext cx="936345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3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  <p:extLst>
      <p:ext uri="{BB962C8B-B14F-4D97-AF65-F5344CB8AC3E}">
        <p14:creationId xmlns:p14="http://schemas.microsoft.com/office/powerpoint/2010/main" val="204490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533523"/>
            <a:ext cx="3024000" cy="469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5440" y="1533524"/>
            <a:ext cx="3024000" cy="469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3435920" y="1533523"/>
            <a:ext cx="3024000" cy="469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9" hasCustomPrompt="1"/>
          </p:nvPr>
        </p:nvSpPr>
        <p:spPr>
          <a:xfrm>
            <a:off x="34398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660544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266400" y="123973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3439800" y="123973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43" hasCustomPrompt="1"/>
          </p:nvPr>
        </p:nvSpPr>
        <p:spPr>
          <a:xfrm>
            <a:off x="6606000" y="123973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1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18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533524"/>
            <a:ext cx="302416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0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5440" y="1533524"/>
            <a:ext cx="302416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7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3439800" y="1533524"/>
            <a:ext cx="302416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1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4121149"/>
            <a:ext cx="302416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6605440" y="4121149"/>
            <a:ext cx="302416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3" name="Content Placeholder 3"/>
          <p:cNvSpPr>
            <a:spLocks noGrp="1"/>
          </p:cNvSpPr>
          <p:nvPr>
            <p:ph sz="half" idx="41" hasCustomPrompt="1"/>
          </p:nvPr>
        </p:nvSpPr>
        <p:spPr>
          <a:xfrm>
            <a:off x="3439800" y="4121149"/>
            <a:ext cx="302416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38486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3439800" y="1238486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idx="43" hasCustomPrompt="1"/>
          </p:nvPr>
        </p:nvSpPr>
        <p:spPr>
          <a:xfrm>
            <a:off x="6605440" y="1238486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40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266400" y="383921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3439800" y="383921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6605440" y="383921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47" hasCustomPrompt="1"/>
          </p:nvPr>
        </p:nvSpPr>
        <p:spPr>
          <a:xfrm>
            <a:off x="266400" y="1238486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48" hasCustomPrompt="1"/>
          </p:nvPr>
        </p:nvSpPr>
        <p:spPr>
          <a:xfrm>
            <a:off x="3439800" y="1238486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49" hasCustomPrompt="1"/>
          </p:nvPr>
        </p:nvSpPr>
        <p:spPr>
          <a:xfrm>
            <a:off x="6605440" y="1238486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266400" y="383921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51" hasCustomPrompt="1"/>
          </p:nvPr>
        </p:nvSpPr>
        <p:spPr>
          <a:xfrm>
            <a:off x="3439800" y="383921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52" hasCustomPrompt="1"/>
          </p:nvPr>
        </p:nvSpPr>
        <p:spPr>
          <a:xfrm>
            <a:off x="6605440" y="383921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5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543050"/>
            <a:ext cx="46080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17088" y="1543050"/>
            <a:ext cx="46080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 hasCustomPrompt="1"/>
          </p:nvPr>
        </p:nvSpPr>
        <p:spPr>
          <a:xfrm>
            <a:off x="266400" y="4130675"/>
            <a:ext cx="46080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Content Placeholder 3"/>
          <p:cNvSpPr>
            <a:spLocks noGrp="1"/>
          </p:cNvSpPr>
          <p:nvPr>
            <p:ph sz="half" idx="21" hasCustomPrompt="1"/>
          </p:nvPr>
        </p:nvSpPr>
        <p:spPr>
          <a:xfrm>
            <a:off x="5017088" y="4130675"/>
            <a:ext cx="46080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32236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17088" y="1232236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266400" y="383921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017088" y="383921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266400" y="1232236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017088" y="1232236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266400" y="3839210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5017088" y="3839210"/>
            <a:ext cx="460857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0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533524"/>
            <a:ext cx="6192000" cy="468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9184" y="1533524"/>
            <a:ext cx="3024000" cy="468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39730"/>
            <a:ext cx="6190488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38" hasCustomPrompt="1"/>
          </p:nvPr>
        </p:nvSpPr>
        <p:spPr>
          <a:xfrm>
            <a:off x="6609184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6609184" y="123973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2664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12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3441600" y="1533525"/>
            <a:ext cx="6192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266400" y="1533525"/>
            <a:ext cx="3024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39730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38" hasCustomPrompt="1"/>
          </p:nvPr>
        </p:nvSpPr>
        <p:spPr>
          <a:xfrm>
            <a:off x="3441600" y="1239730"/>
            <a:ext cx="6190488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39" hasCustomPrompt="1"/>
          </p:nvPr>
        </p:nvSpPr>
        <p:spPr>
          <a:xfrm>
            <a:off x="2664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34416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0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18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3440831" y="1533524"/>
            <a:ext cx="61920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266400" y="1533524"/>
            <a:ext cx="30240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3440831" y="4121149"/>
            <a:ext cx="61920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4121149"/>
            <a:ext cx="30240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41761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3440831" y="1241761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266400" y="3848735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3440831" y="3848735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43" hasCustomPrompt="1"/>
          </p:nvPr>
        </p:nvSpPr>
        <p:spPr>
          <a:xfrm>
            <a:off x="266400" y="1241761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3440831" y="1241761"/>
            <a:ext cx="6190488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266400" y="3848735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3440831" y="3848735"/>
            <a:ext cx="6190488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536700"/>
            <a:ext cx="61920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9600" y="1536700"/>
            <a:ext cx="30240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266400" y="4124325"/>
            <a:ext cx="61920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6609600" y="4124325"/>
            <a:ext cx="30240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266400" y="1231931"/>
            <a:ext cx="6190488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9600" y="1231931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266400" y="3838905"/>
            <a:ext cx="6190488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6609600" y="3838905"/>
            <a:ext cx="3026664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43" hasCustomPrompt="1"/>
          </p:nvPr>
        </p:nvSpPr>
        <p:spPr>
          <a:xfrm>
            <a:off x="266400" y="1231931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266400" y="3838905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6609600" y="1231931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6609600" y="3838905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/>
          <p:cNvSpPr>
            <a:spLocks noGrp="1"/>
          </p:cNvSpPr>
          <p:nvPr>
            <p:ph sz="half" idx="49" hasCustomPrompt="1"/>
          </p:nvPr>
        </p:nvSpPr>
        <p:spPr>
          <a:xfrm>
            <a:off x="266400" y="1533525"/>
            <a:ext cx="2232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50" hasCustomPrompt="1"/>
          </p:nvPr>
        </p:nvSpPr>
        <p:spPr>
          <a:xfrm>
            <a:off x="2642400" y="1533525"/>
            <a:ext cx="2232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Content Placeholder 3"/>
          <p:cNvSpPr>
            <a:spLocks noGrp="1"/>
          </p:cNvSpPr>
          <p:nvPr>
            <p:ph sz="half" idx="51" hasCustomPrompt="1"/>
          </p:nvPr>
        </p:nvSpPr>
        <p:spPr>
          <a:xfrm>
            <a:off x="5025600" y="1533525"/>
            <a:ext cx="2232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Content Placeholder 3"/>
          <p:cNvSpPr>
            <a:spLocks noGrp="1"/>
          </p:cNvSpPr>
          <p:nvPr>
            <p:ph sz="half" idx="52" hasCustomPrompt="1"/>
          </p:nvPr>
        </p:nvSpPr>
        <p:spPr>
          <a:xfrm>
            <a:off x="7401600" y="1533525"/>
            <a:ext cx="2232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ED7100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239730"/>
            <a:ext cx="223113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53" hasCustomPrompt="1"/>
          </p:nvPr>
        </p:nvSpPr>
        <p:spPr>
          <a:xfrm>
            <a:off x="2642400" y="1239730"/>
            <a:ext cx="223113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54" hasCustomPrompt="1"/>
          </p:nvPr>
        </p:nvSpPr>
        <p:spPr>
          <a:xfrm>
            <a:off x="5025600" y="1239730"/>
            <a:ext cx="223113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55" hasCustomPrompt="1"/>
          </p:nvPr>
        </p:nvSpPr>
        <p:spPr>
          <a:xfrm>
            <a:off x="7401600" y="1239730"/>
            <a:ext cx="2231136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effectLst/>
        </p:spPr>
        <p:txBody>
          <a:bodyPr wrap="none" lIns="137160" rtlCol="0" anchor="ctr">
            <a:noAutofit/>
          </a:bodyPr>
          <a:lstStyle>
            <a:lvl1pPr>
              <a:def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/>
              <a:t>Title bar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56" hasCustomPrompt="1"/>
          </p:nvPr>
        </p:nvSpPr>
        <p:spPr>
          <a:xfrm>
            <a:off x="2664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57" hasCustomPrompt="1"/>
          </p:nvPr>
        </p:nvSpPr>
        <p:spPr>
          <a:xfrm>
            <a:off x="26424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58" hasCustomPrompt="1"/>
          </p:nvPr>
        </p:nvSpPr>
        <p:spPr>
          <a:xfrm>
            <a:off x="50256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59" hasCustomPrompt="1"/>
          </p:nvPr>
        </p:nvSpPr>
        <p:spPr>
          <a:xfrm>
            <a:off x="7401600" y="1239730"/>
            <a:ext cx="9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solidFill>
            <a:srgbClr val="ED71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>
            <a:lvl1pPr>
              <a:defRPr lang="en-US" b="1" kern="1200" dirty="0" smtClean="0">
                <a:latin typeface="Arial" charset="0"/>
                <a:cs typeface="+mn-cs"/>
              </a:defRPr>
            </a:lvl1pPr>
          </a:lstStyle>
          <a:p>
            <a:pPr marL="0" lvl="0" algn="ctr" defTabSz="914400" eaLnBrk="0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32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299119"/>
            <a:ext cx="9363456" cy="231856"/>
          </a:xfrm>
          <a:prstGeom prst="rect">
            <a:avLst/>
          </a:prstGeom>
        </p:spPr>
        <p:txBody>
          <a:bodyPr lIns="0" tIns="0" rIns="0" bIns="0" anchor="t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/>
              <a:t>Source / Disclaimer / Annotations: </a:t>
            </a:r>
          </a:p>
        </p:txBody>
      </p:sp>
      <p:sp>
        <p:nvSpPr>
          <p:cNvPr id="23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  <p:extLst>
      <p:ext uri="{BB962C8B-B14F-4D97-AF65-F5344CB8AC3E}">
        <p14:creationId xmlns:p14="http://schemas.microsoft.com/office/powerpoint/2010/main" val="473203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1_Comple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96A6800-FFF6-4ED7-8C1A-BE1D2596D2A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418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038225"/>
          </a:xfrm>
          <a:prstGeom prst="rect">
            <a:avLst/>
          </a:prstGeom>
        </p:spPr>
      </p:pic>
      <p:sp>
        <p:nvSpPr>
          <p:cNvPr id="11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</a:lstStyle>
          <a:p>
            <a:r>
              <a:rPr lang="en-GB" dirty="0"/>
              <a:t>Main text</a:t>
            </a:r>
          </a:p>
        </p:txBody>
      </p:sp>
    </p:spTree>
    <p:extLst>
      <p:ext uri="{BB962C8B-B14F-4D97-AF65-F5344CB8AC3E}">
        <p14:creationId xmlns:p14="http://schemas.microsoft.com/office/powerpoint/2010/main" val="286363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3049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rgbClr val="FCB584"/>
                </a:solidFill>
              </a:defRPr>
            </a:lvl1pPr>
          </a:lstStyle>
          <a:p>
            <a:pPr algn="r"/>
            <a:fld id="{B1F92669-E9AC-495A-9485-4D654D029480}" type="slidenum">
              <a:rPr lang="en-GB" smtClean="0"/>
              <a:pPr algn="r"/>
              <a:t>‹#›</a:t>
            </a:fld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038225"/>
          </a:xfrm>
          <a:prstGeom prst="rect">
            <a:avLst/>
          </a:prstGeom>
        </p:spPr>
      </p:pic>
      <p:pic>
        <p:nvPicPr>
          <p:cNvPr id="8" name="그림 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0" y="6538407"/>
            <a:ext cx="1627688" cy="27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50" r:id="rId2"/>
    <p:sldLayoutId id="2147483712" r:id="rId3"/>
    <p:sldLayoutId id="2147483769" r:id="rId4"/>
    <p:sldLayoutId id="2147483767" r:id="rId5"/>
    <p:sldLayoutId id="2147483727" r:id="rId6"/>
    <p:sldLayoutId id="2147483728" r:id="rId7"/>
    <p:sldLayoutId id="2147483726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84" r:id="rId14"/>
    <p:sldLayoutId id="2147483762" r:id="rId15"/>
    <p:sldLayoutId id="2147483788" r:id="rId16"/>
  </p:sldLayoutIdLst>
  <p:hf hdr="0" dt="0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algn="l" defTabSz="957263" rtl="0" eaLnBrk="1" fontAlgn="base" hangingPunct="1">
        <a:spcBef>
          <a:spcPct val="45000"/>
        </a:spcBef>
        <a:spcAft>
          <a:spcPct val="45000"/>
        </a:spcAft>
        <a:buClr>
          <a:srgbClr val="CC3300"/>
        </a:buClr>
        <a:defRPr sz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244475" indent="-242888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SzPct val="70000"/>
        <a:buFont typeface="Wingdings" pitchFamily="2" charset="2"/>
        <a:buChar char="n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06400" indent="-160338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547688" indent="-139700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318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11890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6pPr>
      <a:lvl7pPr marL="16462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7pPr>
      <a:lvl8pPr marL="21034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8pPr>
      <a:lvl9pPr marL="25606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3049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rgbClr val="FCB584"/>
                </a:solidFill>
              </a:defRPr>
            </a:lvl1pPr>
          </a:lstStyle>
          <a:p>
            <a:pPr algn="r"/>
            <a:fld id="{B1F92669-E9AC-495A-9485-4D654D029480}" type="slidenum">
              <a:rPr lang="en-GB" smtClean="0"/>
              <a:pPr algn="r"/>
              <a:t>‹#›</a:t>
            </a:fld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038225"/>
          </a:xfrm>
          <a:prstGeom prst="rect">
            <a:avLst/>
          </a:prstGeom>
        </p:spPr>
      </p:pic>
      <p:pic>
        <p:nvPicPr>
          <p:cNvPr id="8" name="그림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0" y="6538407"/>
            <a:ext cx="1627688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3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</p:sldLayoutIdLst>
  <p:hf hdr="0" dt="0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algn="l" defTabSz="957263" rtl="0" eaLnBrk="1" fontAlgn="base" hangingPunct="1">
        <a:spcBef>
          <a:spcPct val="45000"/>
        </a:spcBef>
        <a:spcAft>
          <a:spcPct val="45000"/>
        </a:spcAft>
        <a:buClr>
          <a:srgbClr val="CC3300"/>
        </a:buClr>
        <a:defRPr sz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244475" indent="-242888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SzPct val="70000"/>
        <a:buFont typeface="Wingdings" pitchFamily="2" charset="2"/>
        <a:buChar char="n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06400" indent="-160338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547688" indent="-139700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318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11890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6pPr>
      <a:lvl7pPr marL="16462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7pPr>
      <a:lvl8pPr marL="21034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8pPr>
      <a:lvl9pPr marL="25606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times.jp/main/html/rd/p/000000004.000167879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266400" y="372721"/>
            <a:ext cx="9360000" cy="72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kern="1200" baseline="0" dirty="0">
                <a:solidFill>
                  <a:srgbClr val="ED7100"/>
                </a:solidFill>
                <a:latin typeface="+mn-lt"/>
                <a:ea typeface="MS PGothic" pitchFamily="34" charset="-128"/>
                <a:cs typeface="+mn-cs"/>
              </a:defRPr>
            </a:lvl1pPr>
            <a:lvl2pPr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457200"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6pPr>
            <a:lvl7pPr marL="914400"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7pPr>
            <a:lvl8pPr marL="1371600"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8pPr>
            <a:lvl9pPr marL="1828800" algn="l" defTabSz="957263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일본</a:t>
            </a:r>
            <a:endParaRPr lang="en-US" b="0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9108235" y="6627600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marL="0" algn="r" defTabSz="914400" rtl="0" eaLnBrk="1" latinLnBrk="0" hangingPunct="1">
              <a:defRPr lang="en-GB" sz="1000" kern="1200" smtClean="0">
                <a:solidFill>
                  <a:srgbClr val="FCB584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F92669-E9AC-495A-9485-4D654D029480}" type="slidenum">
              <a:rPr 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0</a:t>
            </a:fld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>
          <a:xfrm>
            <a:off x="171615" y="1141325"/>
            <a:ext cx="9334500" cy="4933174"/>
          </a:xfrm>
        </p:spPr>
        <p:txBody>
          <a:bodyPr anchor="t"/>
          <a:lstStyle/>
          <a:p>
            <a:pPr marL="171450" indent="-171450" defTabSz="914400" ea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맑은 고딕" panose="020B0503020000020004" pitchFamily="50" charset="-127"/>
              <a:buChar char="•"/>
            </a:pPr>
            <a:r>
              <a:rPr lang="ko-KR" altLang="en-US" sz="1100" dirty="0"/>
              <a:t>헥사 에너지 서비스, LTDA 계통용 BESS 4건(계 148MW) 프로젝트 파이낸스 성공·경제성 분석 지원 공개 (5/8)</a:t>
            </a:r>
            <a:endParaRPr lang="en-US" altLang="ko-KR" sz="1100" dirty="0">
              <a:latin typeface="+mn-ea"/>
              <a:ea typeface="+mn-ea"/>
            </a:endParaRPr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오로라 에너지 리서치(Aurora Energy Research)는 헥사 에너지 서비스(Hexa Energy Services, I Squared Capital 산하)의 일본 계통용 BESS 4개 사업(합계 148MW)에 대한 사업수익 경제성 평가(현금흐름 분석·최적운용 시뮬레이션)를 지원했음.</a:t>
            </a:r>
            <a:endParaRPr lang="ko-KR" altLang="en-US" sz="1100" dirty="0"/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해당 4개 사업은 홋카이도 에니와시, 미에현 이가시·마쓰사카시, 홋카이도 시라오이초에 위치하며, 2026년 3월 31일 국내 주요 금융기관과의 프로젝트 파이낸스 계약에 기반하여 융자가 실행되었음.</a:t>
            </a:r>
            <a:endParaRPr lang="ko-KR" altLang="en-US" sz="1100" dirty="0"/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해당 사업들은 2023년도 장기탈탄소전원오크션(LTDA)에서 채택된 사업으로, 20년간 용량 결제(고정수익)를 받는 구조이며 재생에너지 확대에 따른 전력 수급 안정화에 기여하는 역할을 담당함.</a:t>
            </a:r>
            <a:endParaRPr lang="ko-KR" altLang="en-US" sz="1100" dirty="0"/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LTDA 수주 BESS 사업을 담보로 한 프로젝트 파이낸스가 국내 금융기관으로부터 실행됨에 따라, LTDA 기반 BESS 사업의 파이낸싱 가능성이 일본 시장에서 실증된 사례로 평가되었음.</a:t>
            </a:r>
            <a:endParaRPr lang="ko-KR" altLang="en-US" sz="1100" dirty="0"/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헥사 에너지 서비스는 LTDA 제1차 오크션에서 445MW를 수주하여 6개 지역 11개 BESS 사업을 전개 중이며, I Squared Capital의 인프라 자산으로서 일본 에너지 전환을 가속화하고 있음.</a:t>
            </a:r>
            <a:endParaRPr lang="ko-KR" altLang="en-US" sz="1100" dirty="0"/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오로라 에너지 리서치는 JEPX 도매시장·수급조정시장의 장기 수익 예측 및 출력억제(curtailment) 전망 분석을 지원하였으며, 세계 17개 거점에서 전력시장 분석 서비스를 제공하고 있음.</a:t>
            </a:r>
            <a:endParaRPr lang="ko-KR" altLang="en-US" sz="1100" dirty="0"/>
          </a:p>
          <a:p>
            <a:pPr marL="361950" lvl="1" indent="-180975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Font typeface="바탕" panose="02030600000101010101" pitchFamily="18" charset="-127"/>
              <a:buChar char="―"/>
            </a:pPr>
            <a:r>
              <a:rPr lang="ko-KR" altLang="en-US" sz="1100" dirty="0">
                <a:latin typeface="Malgun Gothic"/>
                <a:ea typeface="Malgun Gothic"/>
                <a:cs typeface="Arial"/>
              </a:rPr>
              <a:t>일본 계통용 BESS 시장에서 LTDA 계약 기반 프로젝트 파이낸스 사례가 축적됨에 따라, 향후 더 규모 있는 BESS 프로젝트의 금융 조달 여건이 개선되고 있음.</a:t>
            </a:r>
            <a:endParaRPr lang="ko-KR" altLang="en-US" sz="1100" dirty="0"/>
          </a:p>
          <a:p>
            <a:pPr marL="180975" lvl="1" indent="0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None/>
            </a:pPr>
            <a:r>
              <a:rPr lang="ko-KR" altLang="en-US" sz="1100" spc="-100" dirty="0">
                <a:solidFill>
                  <a:srgbClr val="0070C0"/>
                </a:solidFill>
                <a:latin typeface="Malgun Gothic"/>
                <a:ea typeface="Malgun Gothic"/>
                <a:cs typeface="Arial" panose="020B0604020202020204" pitchFamily="34" charset="0"/>
              </a:rPr>
              <a:t>☞  LTDA 기반 BESS의 프로젝트 파이낸스 실현 사례는 당사 BESS 개발·투자 관점에서 중요한 선례임. BESS 개발 사업의 LTDA 입찰 전략 및 파이낸싱 구조 검토 시, 동 사례의 수익 구조(20년 고정수입 + Merchant 10%)와 금융기관 참여 조건을 참고할 필요가 있을 것으로 판단됨.</a:t>
            </a:r>
            <a:endParaRPr lang="en-US" altLang="ko-KR" sz="1100" spc="-100" dirty="0">
              <a:solidFill>
                <a:srgbClr val="0070C0"/>
              </a:solidFill>
            </a:endParaRPr>
          </a:p>
          <a:p>
            <a:pPr marL="180975" lvl="1" indent="0" defTabSz="914400" ea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None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출처: PR Times, </a:t>
            </a:r>
            <a:r>
              <a:rPr lang="ko-KR" altLang="en-US" sz="900" dirty="0">
                <a:hlinkClick r:id="rId2"/>
              </a:rPr>
              <a:t>Aurora Energy Research・Hexa Energy Services BESS 148MW 経済性分析支援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(2026.5.8)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7096617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Theme">
  <a:themeElements>
    <a:clrScheme name="Custom 1">
      <a:dk1>
        <a:srgbClr val="343232"/>
      </a:dk1>
      <a:lt1>
        <a:srgbClr val="FFFFFF"/>
      </a:lt1>
      <a:dk2>
        <a:srgbClr val="6D6E71"/>
      </a:dk2>
      <a:lt2>
        <a:srgbClr val="F37321"/>
      </a:lt2>
      <a:accent1>
        <a:srgbClr val="F0831E"/>
      </a:accent1>
      <a:accent2>
        <a:srgbClr val="B05989"/>
      </a:accent2>
      <a:accent3>
        <a:srgbClr val="EA5539"/>
      </a:accent3>
      <a:accent4>
        <a:srgbClr val="FFC000"/>
      </a:accent4>
      <a:accent5>
        <a:srgbClr val="72B68F"/>
      </a:accent5>
      <a:accent6>
        <a:srgbClr val="69ACC4"/>
      </a:accent6>
      <a:hlink>
        <a:srgbClr val="0563C1"/>
      </a:hlink>
      <a:folHlink>
        <a:srgbClr val="954F72"/>
      </a:folHlink>
    </a:clrScheme>
    <a:fontScheme name="Nomur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1_Default Theme">
  <a:themeElements>
    <a:clrScheme name="Custom 1">
      <a:dk1>
        <a:srgbClr val="343232"/>
      </a:dk1>
      <a:lt1>
        <a:srgbClr val="FFFFFF"/>
      </a:lt1>
      <a:dk2>
        <a:srgbClr val="6D6E71"/>
      </a:dk2>
      <a:lt2>
        <a:srgbClr val="F37321"/>
      </a:lt2>
      <a:accent1>
        <a:srgbClr val="F0831E"/>
      </a:accent1>
      <a:accent2>
        <a:srgbClr val="B05989"/>
      </a:accent2>
      <a:accent3>
        <a:srgbClr val="EA5539"/>
      </a:accent3>
      <a:accent4>
        <a:srgbClr val="FFC000"/>
      </a:accent4>
      <a:accent5>
        <a:srgbClr val="72B68F"/>
      </a:accent5>
      <a:accent6>
        <a:srgbClr val="69ACC4"/>
      </a:accent6>
      <a:hlink>
        <a:srgbClr val="0563C1"/>
      </a:hlink>
      <a:folHlink>
        <a:srgbClr val="954F72"/>
      </a:folHlink>
    </a:clrScheme>
    <a:fontScheme name="Nomur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MetaDocumentWS" ma:contentTypeID="0x01010002328573F07347D9A7800BDA19699CC2004F0207747EB2BF458D6EBCB3AE6D09BE" ma:contentTypeVersion="0" ma:contentTypeDescription="Metadata Content Type(Workshare)" ma:contentTypeScope="" ma:versionID="9d89be94dffdd956a4bdbbe02d9653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6142cc285753f069fe6237cbe592e3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1DAF1D-F12B-4D61-AA25-4254E012CC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FE57713-9EA1-4D9D-BEC9-0922EDC98B12}">
  <ds:schemaRefs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A6CFE78-605C-4122-B368-FAF9ADF8B1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69362</TotalTime>
  <Words>320</Words>
  <Application>Microsoft Office PowerPoint</Application>
  <PresentationFormat>A4 용지(210x297mm)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맑은 고딕</vt:lpstr>
      <vt:lpstr>맑은 고딕</vt:lpstr>
      <vt:lpstr>바탕</vt:lpstr>
      <vt:lpstr>Arial</vt:lpstr>
      <vt:lpstr>Calibri</vt:lpstr>
      <vt:lpstr>Symbol</vt:lpstr>
      <vt:lpstr>Wingdings</vt:lpstr>
      <vt:lpstr>Default Theme</vt:lpstr>
      <vt:lpstr>1_Default Theme</vt:lpstr>
      <vt:lpstr>PowerPoint 프레젠테이션</vt:lpstr>
    </vt:vector>
  </TitlesOfParts>
  <Company>Nomura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4월_4주차_시장동향_및_시사점.pptx</dc:title>
  <dc:creator>Lee, Jonghun (IB/KR)</dc:creator>
  <cp:lastModifiedBy>임승주(Seung Joo Lim)</cp:lastModifiedBy>
  <cp:revision>6084</cp:revision>
  <cp:lastPrinted>2019-03-07T05:12:02Z</cp:lastPrinted>
  <dcterms:created xsi:type="dcterms:W3CDTF">2018-06-02T11:16:54Z</dcterms:created>
  <dcterms:modified xsi:type="dcterms:W3CDTF">2026-05-17T23:00:00Z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0x01010002328573F07347D9A7800BDA19699CC2004F0207747EB2BF458D6EBCB3AE6D09BE</vt:lpwstr>
  </property>
  <property fmtid="{D5CDD505-2E9C-101B-9397-08002B2CF9AE}" pid="3" name="HSNC_PaperType">
    <vt:lpwstr>G</vt:lpwstr>
  </property>
  <property fmtid="{D5CDD505-2E9C-101B-9397-08002B2CF9AE}" pid="4" name="HSNC_ProductYN">
    <vt:lpwstr>N</vt:lpwstr>
  </property>
  <property fmtid="{D5CDD505-2E9C-101B-9397-08002B2CF9AE}" pid="5" name="HSNC_NasYN">
    <vt:lpwstr>N</vt:lpwstr>
  </property>
  <property fmtid="{D5CDD505-2E9C-101B-9397-08002B2CF9AE}" pid="6" name="HSNC_CLVS_GROUP_KBN">
    <vt:lpwstr>COLA</vt:lpwstr>
  </property>
  <property fmtid="{D5CDD505-2E9C-101B-9397-08002B2CF9AE}" pid="7" name="HSNC_CompanyID">
    <vt:lpwstr>425</vt:lpwstr>
  </property>
  <property fmtid="{D5CDD505-2E9C-101B-9397-08002B2CF9AE}" pid="8" name="HSNC_ParentSystem">
    <vt:lpwstr>C3</vt:lpwstr>
  </property>
  <property fmtid="{D5CDD505-2E9C-101B-9397-08002B2CF9AE}" pid="9" name="DRMSecurityInfo">
    <vt:lpwstr/>
  </property>
  <property fmtid="{D5CDD505-2E9C-101B-9397-08002B2CF9AE}" pid="10" name="HSNC_PublicYN">
    <vt:lpwstr>N</vt:lpwstr>
  </property>
  <property fmtid="{D5CDD505-2E9C-101B-9397-08002B2CF9AE}" pid="11" name="HSNC_DocID">
    <vt:lpwstr>d9a3d13006be41e6891a38e5cfd618e3</vt:lpwstr>
  </property>
  <property fmtid="{D5CDD505-2E9C-101B-9397-08002B2CF9AE}" pid="12" name="HSNC_ModifierHistory">
    <vt:lpwstr>송진환(Song Jinhwan);jinhwan84@hanwha.com,송진환(Song Jinhwan);jinhwan84@hanwha.com,송진환(Song Jinhwan);jinhwan84@hanwha.com,임승주(Seung Joo Lim);sjlim0810@hanwha.com,</vt:lpwstr>
  </property>
</Properties>
</file>